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2" r:id="rId14"/>
    <p:sldId id="271" r:id="rId15"/>
    <p:sldId id="273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 varScale="1">
        <p:scale>
          <a:sx n="48" d="100"/>
          <a:sy n="48" d="100"/>
        </p:scale>
        <p:origin x="29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Gowtham Sai Garnepudi – VTU28790 – 23UECS2007.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NATTESHAN. N.V.S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8 –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IN" sz="2000" dirty="0"/>
              <a:t>conomic Growth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220980" y="48763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5562600" y="4103401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A1D92E03-719A-C292-5271-76D1B5C24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687" y="1318627"/>
            <a:ext cx="1509868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rapid growth of job seekers and companies has made manual hiring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Processes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and time-consuming.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Many candidates struggle to find suitable jobs, while employers face difficulty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 identifying the right talent.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1A0FCD-DBAD-387C-E82B-D4E0AF636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22" y="3495828"/>
            <a:ext cx="1570590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reduces time, effort, and cost involved in job searching and hiring.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has strong real-world relevance as online job portals are widely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in modern recruitment.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improves accessibility by allowing users to apply for jobs anytime and from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anywhere.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Job Portal Management System connects job seekers and recruiters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through a digital interface.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features like job posting, resume submission, application tracking,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user management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4267200" y="275938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3182E592-25D0-9CE3-BE08-00C318E43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202" y="2053278"/>
            <a:ext cx="15453398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many organizations, recruitment processes are still partially manual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inefficient.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seekers face difficulty in finding relevant job opportunities in one place.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Employers struggle to manage large volumes of applications 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may lack proper automation, filtering, and tracking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leads to delays, data mismanagement, and poor communication between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 centralized and automated system to handle recruitment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improve accuracy, reduce time, and enhance user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057400" y="3290429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C64C8A-BAEF-17E1-8084-A304FCF81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1499" y="2015465"/>
            <a:ext cx="12635647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• Develop a </a:t>
            </a:r>
            <a:r>
              <a:rPr lang="en-US" sz="3600" b="1" dirty="0"/>
              <a:t>centralized job portal</a:t>
            </a:r>
            <a:r>
              <a:rPr lang="en-US" sz="3600" dirty="0"/>
              <a:t> connecting job seekers and employers</a:t>
            </a:r>
            <a:br>
              <a:rPr lang="en-US" sz="3600" dirty="0"/>
            </a:br>
            <a:r>
              <a:rPr lang="en-US" sz="3600" dirty="0"/>
              <a:t>• Automate </a:t>
            </a:r>
            <a:r>
              <a:rPr lang="en-US" sz="3600" b="1" dirty="0"/>
              <a:t>job posting, applications, and tracking process</a:t>
            </a:r>
            <a:br>
              <a:rPr lang="en-US" sz="3600" dirty="0"/>
            </a:br>
            <a:r>
              <a:rPr lang="en-US" sz="3600" dirty="0"/>
              <a:t>• Improve </a:t>
            </a:r>
            <a:r>
              <a:rPr lang="en-US" sz="3600" b="1" dirty="0"/>
              <a:t>accuracy &amp; efficiency</a:t>
            </a:r>
            <a:r>
              <a:rPr lang="en-US" sz="3600" dirty="0"/>
              <a:t> by reducing manual work</a:t>
            </a:r>
            <a:br>
              <a:rPr lang="en-US" sz="3600" dirty="0"/>
            </a:br>
            <a:r>
              <a:rPr lang="en-US" sz="3600" dirty="0"/>
              <a:t>• Provide a </a:t>
            </a:r>
            <a:r>
              <a:rPr lang="en-US" sz="3600" b="1" dirty="0"/>
              <a:t>user-friendly and interactive interface</a:t>
            </a:r>
            <a:br>
              <a:rPr lang="en-US" sz="3600" dirty="0"/>
            </a:br>
            <a:r>
              <a:rPr lang="en-US" sz="3600" dirty="0"/>
              <a:t>• Enable </a:t>
            </a:r>
            <a:r>
              <a:rPr lang="en-US" sz="3600" b="1" dirty="0"/>
              <a:t>advanced search &amp; filtering</a:t>
            </a:r>
            <a:r>
              <a:rPr lang="en-US" sz="3600" dirty="0"/>
              <a:t> for better job matching</a:t>
            </a:r>
            <a:br>
              <a:rPr lang="en-US" sz="3600" dirty="0"/>
            </a:br>
            <a:r>
              <a:rPr lang="en-US" sz="3600" dirty="0"/>
              <a:t>• Ensure </a:t>
            </a:r>
            <a:r>
              <a:rPr lang="en-US" sz="3600" b="1" dirty="0"/>
              <a:t>secure data management</a:t>
            </a:r>
            <a:r>
              <a:rPr lang="en-US" sz="3600" dirty="0"/>
              <a:t> (authentication &amp; protection)</a:t>
            </a:r>
            <a:br>
              <a:rPr lang="en-US" sz="3600" dirty="0"/>
            </a:br>
            <a:r>
              <a:rPr lang="en-US" sz="3600" dirty="0"/>
              <a:t>• Support </a:t>
            </a:r>
            <a:r>
              <a:rPr lang="en-US" sz="3600" b="1" dirty="0"/>
              <a:t>real-time notifications</a:t>
            </a:r>
            <a:r>
              <a:rPr lang="en-US" sz="3600" dirty="0"/>
              <a:t> (Email / SMS / OTP)</a:t>
            </a:r>
            <a:br>
              <a:rPr lang="en-US" sz="3600" dirty="0"/>
            </a:br>
            <a:r>
              <a:rPr lang="en-US" sz="3600" dirty="0"/>
              <a:t>• Maintain </a:t>
            </a:r>
            <a:r>
              <a:rPr lang="en-US" sz="3600" b="1" dirty="0"/>
              <a:t>high scalability &amp; system performance</a:t>
            </a:r>
            <a:br>
              <a:rPr lang="en-US" sz="3600" dirty="0"/>
            </a:br>
            <a:r>
              <a:rPr lang="en-US" sz="3600" dirty="0"/>
              <a:t>• Provide </a:t>
            </a:r>
            <a:r>
              <a:rPr lang="en-US" sz="3600" b="1" dirty="0"/>
              <a:t>analytics &amp; reporting</a:t>
            </a:r>
            <a:r>
              <a:rPr lang="en-US" sz="3600" dirty="0"/>
              <a:t> for recruiters</a:t>
            </a:r>
            <a:br>
              <a:rPr lang="en-US" sz="3600" dirty="0"/>
            </a:br>
            <a:r>
              <a:rPr lang="en-US" sz="3600" dirty="0"/>
              <a:t>• Reduce </a:t>
            </a:r>
            <a:r>
              <a:rPr lang="en-US" sz="3600" b="1" dirty="0"/>
              <a:t>time, cost, and effort</a:t>
            </a:r>
            <a:r>
              <a:rPr lang="en-US" sz="3600" dirty="0"/>
              <a:t> in recruitment</a:t>
            </a:r>
          </a:p>
          <a:p>
            <a:br>
              <a:rPr lang="en-US" sz="3600" dirty="0"/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61ED48B-9533-C309-0C0E-A8144486EA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127" y="6034164"/>
            <a:ext cx="5638800" cy="375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6E94C656-768F-6A92-A9AC-3ED26C58A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962" y="1355021"/>
            <a:ext cx="15082325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a centralized online platform for job seekers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employers to interact.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automates job posting, application submission, and candidate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management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Advanced search and filtering options help job seekers find relevant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opportunities quickly.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Employers can efficiently screen and shortlist candidates using organized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reduces manual work, saving time and minimizing human errors.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Real-time notifications improve communication between job seekers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data handling ensures privacy and reliability of user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656416" y="4655766"/>
            <a:ext cx="15082325" cy="1012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600" b="1" dirty="0"/>
              <a:t>Input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details, job postings, resumes, and login data are entered into the system</a:t>
            </a:r>
            <a:r>
              <a:rPr lang="en-US" sz="3600" dirty="0"/>
              <a:t>.</a:t>
            </a:r>
            <a:endParaRPr lang="en-US" sz="2800" dirty="0"/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data, matches jobs with candidates, and manages applications</a:t>
            </a:r>
            <a:r>
              <a:rPr lang="en-US" sz="3600" dirty="0"/>
              <a:t>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</a:t>
            </a:r>
            <a:r>
              <a:rPr lang="en-US" sz="3600" dirty="0"/>
              <a:t>All user, job, and application data are securely stored and managed.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  <a:r>
              <a:rPr lang="en-US" sz="3600" dirty="0"/>
              <a:t>Users receive job listings, application status, notifications, and reports.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1A3F7EC-0AE5-C8C5-7C68-CB1A527E9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266155"/>
            <a:ext cx="9055104" cy="3960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1888096" y="1287921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Dataflow Diagram:</a:t>
            </a:r>
          </a:p>
          <a:p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E6B50EA-9D1B-6B46-4DB7-FE1525B27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846" y="1146935"/>
            <a:ext cx="9285154" cy="89164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34075" y="1447854"/>
            <a:ext cx="15082325" cy="1148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(with Bootstrap for responsive design)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(Servlets/JSP) or Python (Django/Flask)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API (for notifications), SMS/OTP API (for verification)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Eclipse, Git.</a:t>
            </a:r>
          </a:p>
          <a:p>
            <a:r>
              <a:rPr lang="en-IN" sz="3600" b="1" dirty="0"/>
              <a:t>Hardware/Software Requirements:</a:t>
            </a:r>
          </a:p>
          <a:p>
            <a:endParaRPr lang="en-US" sz="3600" b="1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2E4EE0A7-4366-C7D5-B37E-BA9271E32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5276" y="7152285"/>
            <a:ext cx="70010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Windows/Linux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Chrome/Edge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710465" y="1028700"/>
            <a:ext cx="15082325" cy="1184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registration and login for job seekers and employers, along with profile creation and secure authentication.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employers to post, update, and manage job listings, including job descriptions, requirements, and deadlines.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Application Management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job seekers to apply for jobs and allows employers to view, filter, and shortlist applications.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Search &amp; Recommendation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advanced search and filtering options, and suggests relevant jobs to users based on their profile.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Reporting &amp; Analytics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 on job postings, applications, and hiring trends for better decision-making.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7423650"/>
            <a:ext cx="145678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homepage provides a </a:t>
            </a:r>
            <a:r>
              <a:rPr lang="en-US" sz="3200" b="1" dirty="0"/>
              <a:t>modern and visually appealing interface</a:t>
            </a:r>
            <a:r>
              <a:rPr lang="en-US" sz="3200" dirty="0"/>
              <a:t> for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highlights the main goal: </a:t>
            </a:r>
            <a:r>
              <a:rPr lang="en-US" sz="3200" b="1" dirty="0"/>
              <a:t>“Find Your Dream Career Today”</a:t>
            </a:r>
            <a:r>
              <a:rPr lang="en-US" sz="3200" dirty="0"/>
              <a:t>, attracting job seekers.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key statistics like </a:t>
            </a:r>
            <a:r>
              <a:rPr lang="en-US" sz="3200" b="1" dirty="0"/>
              <a:t>active jobs, companies, and job seekers</a:t>
            </a:r>
            <a:r>
              <a:rPr lang="en-US" sz="3200" dirty="0"/>
              <a:t> to build trust.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 Provides easy navigation options such as </a:t>
            </a:r>
            <a:r>
              <a:rPr lang="en-US" sz="3200" b="1" dirty="0"/>
              <a:t>Home, Find Jobs, Sign In, and Get Started</a:t>
            </a:r>
            <a:r>
              <a:rPr lang="en-US" sz="3200" dirty="0"/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F5294AA-D8C5-4A37-4CD6-F4145DD90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49229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3769C1-07CB-3A4B-03F1-FCDFAD3C900C}"/>
              </a:ext>
            </a:extLst>
          </p:cNvPr>
          <p:cNvSpPr txBox="1"/>
          <p:nvPr/>
        </p:nvSpPr>
        <p:spPr>
          <a:xfrm>
            <a:off x="2224197" y="1333500"/>
            <a:ext cx="14210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 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BF253-41DF-830A-6DE8-0AFFFBB9E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50" y="2019300"/>
            <a:ext cx="10994424" cy="540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909307" y="800100"/>
            <a:ext cx="5257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4000" b="1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9735795" y="800100"/>
            <a:ext cx="5257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>
            <a:cxnSpLocks/>
          </p:cNvCxnSpPr>
          <p:nvPr/>
        </p:nvCxnSpPr>
        <p:spPr>
          <a:xfrm>
            <a:off x="9448800" y="1697977"/>
            <a:ext cx="0" cy="7736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6CF234-8739-8242-F87A-BC6B99646D15}"/>
              </a:ext>
            </a:extLst>
          </p:cNvPr>
          <p:cNvSpPr txBox="1"/>
          <p:nvPr/>
        </p:nvSpPr>
        <p:spPr>
          <a:xfrm>
            <a:off x="14189316" y="2500372"/>
            <a:ext cx="402248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• Enter </a:t>
            </a:r>
            <a:r>
              <a:rPr lang="en-US" sz="3200" b="1" dirty="0"/>
              <a:t>Email &amp; Password</a:t>
            </a:r>
            <a:br>
              <a:rPr lang="en-US" sz="3200" dirty="0"/>
            </a:br>
            <a:r>
              <a:rPr lang="en-US" sz="3200" dirty="0"/>
              <a:t>• Secure </a:t>
            </a:r>
            <a:r>
              <a:rPr lang="en-US" sz="3200" b="1" dirty="0"/>
              <a:t>user authentication</a:t>
            </a:r>
            <a:br>
              <a:rPr lang="en-US" sz="3200" dirty="0"/>
            </a:br>
            <a:r>
              <a:rPr lang="en-US" sz="3200" dirty="0"/>
              <a:t>• </a:t>
            </a:r>
            <a:r>
              <a:rPr lang="en-US" sz="3200" b="1" dirty="0"/>
              <a:t>Forgot Password</a:t>
            </a:r>
            <a:r>
              <a:rPr lang="en-US" sz="3200" dirty="0"/>
              <a:t> option available</a:t>
            </a:r>
            <a:br>
              <a:rPr lang="en-US" sz="3200" dirty="0"/>
            </a:br>
            <a:r>
              <a:rPr lang="en-US" sz="3200" dirty="0"/>
              <a:t>• Quick &amp; </a:t>
            </a:r>
            <a:r>
              <a:rPr lang="en-US" sz="3200" b="1" dirty="0"/>
              <a:t>easy login process</a:t>
            </a:r>
            <a:br>
              <a:rPr lang="en-US" sz="3200" dirty="0"/>
            </a:br>
            <a:r>
              <a:rPr lang="en-US" sz="3200" dirty="0"/>
              <a:t>• Redirect to </a:t>
            </a:r>
            <a:r>
              <a:rPr lang="en-US" sz="3200" b="1" dirty="0"/>
              <a:t>dashboard after login</a:t>
            </a:r>
            <a:br>
              <a:rPr lang="en-US" sz="3200" dirty="0"/>
            </a:br>
            <a:r>
              <a:rPr lang="en-US" sz="3200" dirty="0"/>
              <a:t>• Option to </a:t>
            </a:r>
            <a:r>
              <a:rPr lang="en-US" sz="3200" b="1" dirty="0"/>
              <a:t>create new account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D5DD39-FEBE-0E5B-B635-49F862CD4968}"/>
              </a:ext>
            </a:extLst>
          </p:cNvPr>
          <p:cNvSpPr txBox="1"/>
          <p:nvPr/>
        </p:nvSpPr>
        <p:spPr>
          <a:xfrm>
            <a:off x="5958884" y="2354342"/>
            <a:ext cx="330429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• User selects </a:t>
            </a:r>
            <a:r>
              <a:rPr lang="en-US" sz="3200" b="1" dirty="0"/>
              <a:t>Job Seeker / Recruiter</a:t>
            </a:r>
            <a:br>
              <a:rPr lang="en-US" sz="3200" dirty="0"/>
            </a:br>
            <a:r>
              <a:rPr lang="en-US" sz="3200" dirty="0"/>
              <a:t>• Enter </a:t>
            </a:r>
            <a:r>
              <a:rPr lang="en-US" sz="3200" b="1" dirty="0"/>
              <a:t>Name, Email, Phone, Password</a:t>
            </a:r>
            <a:br>
              <a:rPr lang="en-US" sz="3200" dirty="0"/>
            </a:br>
            <a:r>
              <a:rPr lang="en-US" sz="3200" dirty="0"/>
              <a:t>• Simple &amp; </a:t>
            </a:r>
            <a:r>
              <a:rPr lang="en-US" sz="3200" b="1" dirty="0"/>
              <a:t>secure signup form</a:t>
            </a:r>
            <a:br>
              <a:rPr lang="en-US" sz="3200" dirty="0"/>
            </a:br>
            <a:r>
              <a:rPr lang="en-US" sz="3200" dirty="0"/>
              <a:t>• Supports </a:t>
            </a:r>
            <a:r>
              <a:rPr lang="en-US" sz="3200" b="1" dirty="0"/>
              <a:t>OTP/verification</a:t>
            </a:r>
            <a:br>
              <a:rPr lang="en-US" sz="3200" dirty="0"/>
            </a:br>
            <a:r>
              <a:rPr lang="en-US" sz="3200" dirty="0"/>
              <a:t>• Clean &amp; </a:t>
            </a:r>
            <a:r>
              <a:rPr lang="en-US" sz="3200" b="1" dirty="0"/>
              <a:t>user-friendly design</a:t>
            </a:r>
            <a:br>
              <a:rPr lang="en-US" sz="3200" dirty="0"/>
            </a:br>
            <a:r>
              <a:rPr lang="en-US" sz="3200" dirty="0"/>
              <a:t>• Option to </a:t>
            </a:r>
            <a:r>
              <a:rPr lang="en-US" sz="3200" b="1" dirty="0"/>
              <a:t>login if account exists</a:t>
            </a:r>
            <a:endParaRPr lang="en-US" sz="3200" dirty="0"/>
          </a:p>
          <a:p>
            <a:br>
              <a:rPr lang="en-US" sz="3200" dirty="0"/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57EDF-FD80-0C7C-F76E-996EEF196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161" y="2552700"/>
            <a:ext cx="3734124" cy="681256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F78148C-0AB7-32BE-84D5-64F6853C7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028" y="2552700"/>
            <a:ext cx="4334972" cy="68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138875" y="1257300"/>
            <a:ext cx="1508232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752554A-8773-7305-7F8F-A063F339E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AFD85-3810-0FAF-1DDE-E71E938B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554" y="1953749"/>
            <a:ext cx="15132226" cy="738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257300"/>
            <a:ext cx="1508232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5ABF2-1707-C9F6-42F8-660DB7DF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6900"/>
            <a:ext cx="15177121" cy="7696200"/>
          </a:xfrm>
          <a:prstGeom prst="rect">
            <a:avLst/>
          </a:prstGeom>
        </p:spPr>
      </p:pic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1905000" y="1638300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Module: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8B2BD-DDF1-820F-B445-2F87056E3BB1}"/>
              </a:ext>
            </a:extLst>
          </p:cNvPr>
          <p:cNvSpPr txBox="1"/>
          <p:nvPr/>
        </p:nvSpPr>
        <p:spPr>
          <a:xfrm>
            <a:off x="1981201" y="2324100"/>
            <a:ext cx="41148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 automated emails for registration, job updates, and alerts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 application confirmation with details &amp; tracking link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 real-time communication between users and the system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41BBE25-B456-0289-F45C-3900B527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24100"/>
            <a:ext cx="11900215" cy="5958813"/>
          </a:xfrm>
          <a:prstGeom prst="rect">
            <a:avLst/>
          </a:prstGeom>
        </p:spPr>
      </p:pic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1905000" y="1702480"/>
            <a:ext cx="1508232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Database: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145D2-F7E8-D5D0-031F-E0A5B7109F70}"/>
              </a:ext>
            </a:extLst>
          </p:cNvPr>
          <p:cNvSpPr txBox="1"/>
          <p:nvPr/>
        </p:nvSpPr>
        <p:spPr>
          <a:xfrm>
            <a:off x="1981200" y="2476500"/>
            <a:ext cx="551810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Stores user, job, and application data securely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Maintains tables like users, jobs, applications, OTP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 fast data retrieval and updates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 authentication and role 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 data integrity and reliability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A4CD5-8D5C-AC11-139E-4B1FEC845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216" y="2259537"/>
            <a:ext cx="10707836" cy="6458621"/>
          </a:xfrm>
          <a:prstGeom prst="rect">
            <a:avLst/>
          </a:prstGeom>
        </p:spPr>
      </p:pic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7EC4A-2D8A-5BB4-AA46-86E42E11D964}"/>
              </a:ext>
            </a:extLst>
          </p:cNvPr>
          <p:cNvSpPr txBox="1"/>
          <p:nvPr/>
        </p:nvSpPr>
        <p:spPr>
          <a:xfrm>
            <a:off x="2320989" y="1704597"/>
            <a:ext cx="1404424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job seekers and employers.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time and effort in the recruitment process.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job opportunities from anywhere at any time.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and minimizes manual errors.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communication through notifications and updates.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management of applications and candidate data.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Limitations: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fake job postings or profiles if not properly verified.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privacy concerns if not well protected.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cost can be high. 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require regular updates and technical support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1302</Words>
  <Application>Microsoft Office PowerPoint</Application>
  <PresentationFormat>Custom</PresentationFormat>
  <Paragraphs>433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Cambria</vt:lpstr>
      <vt:lpstr>Gotham</vt:lpstr>
      <vt:lpstr>Arial</vt:lpstr>
      <vt:lpstr>Gotham Bold Italics</vt:lpstr>
      <vt:lpstr>Times New Roman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Mythili Tumati</dc:creator>
  <cp:lastModifiedBy>Gowtham Sai Garnepudi</cp:lastModifiedBy>
  <cp:revision>20</cp:revision>
  <dcterms:created xsi:type="dcterms:W3CDTF">2006-08-16T00:00:00Z</dcterms:created>
  <dcterms:modified xsi:type="dcterms:W3CDTF">2026-05-06T14:09:47Z</dcterms:modified>
  <dc:identifier>DAHCaYqJ9OU</dc:identifier>
</cp:coreProperties>
</file>